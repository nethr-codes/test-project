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8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57E63A-CD35-4C31-8FD3-F73396D5BA9F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BC81C-D5A8-48B8-A743-FCA5618DE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49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BC81C-D5A8-48B8-A743-FCA5618DE01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19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05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824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39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151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926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2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1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932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22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1241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98048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32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96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3028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46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87923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139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30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1611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629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7878175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9466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368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6091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7738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1905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52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790645AD-48EB-42BA-8135-0314540E0BE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6B36C25-322F-4F72-816F-A07DC96A5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177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38306-57DD-CE2B-1248-B25D5BEC8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UPI FRAUD STATISTICAL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2D30C-6953-68FC-FE12-35AB66304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Statistical Signals for Detecting Fraudulent UPI Transactions</a:t>
            </a:r>
          </a:p>
          <a:p>
            <a:endParaRPr lang="en-US" dirty="0"/>
          </a:p>
          <a:p>
            <a:r>
              <a:rPr lang="en-US" dirty="0"/>
              <a:t>Project Presentation</a:t>
            </a:r>
          </a:p>
          <a:p>
            <a:endParaRPr lang="en-US" dirty="0"/>
          </a:p>
          <a:p>
            <a:r>
              <a:rPr lang="en-US" dirty="0"/>
              <a:t>Nethra H</a:t>
            </a:r>
          </a:p>
          <a:p>
            <a:r>
              <a:rPr lang="en-US" dirty="0"/>
              <a:t>Department of Computer Science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25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9BFE-237C-5DBC-652A-0AD8642E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B7DD-5C75-31A0-7E39-25E84E73B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UPI and digital payment systems process a large number of transactions every day.</a:t>
            </a:r>
          </a:p>
          <a:p>
            <a:endParaRPr lang="en-US" dirty="0"/>
          </a:p>
          <a:p>
            <a:r>
              <a:rPr lang="en-US" dirty="0"/>
              <a:t>• Fraudulent transactions can occur through unusual transaction behavior, sudden amount spikes, abnormal frequency, and device or account misuse.</a:t>
            </a:r>
          </a:p>
          <a:p>
            <a:endParaRPr lang="en-US" dirty="0"/>
          </a:p>
          <a:p>
            <a:r>
              <a:rPr lang="en-US" dirty="0"/>
              <a:t>• Manual investigation of every transaction is difficult and time-consuming.</a:t>
            </a:r>
          </a:p>
          <a:p>
            <a:endParaRPr lang="en-US" dirty="0"/>
          </a:p>
          <a:p>
            <a:r>
              <a:rPr lang="en-US" dirty="0"/>
              <a:t>• Statistical analysis can help identify suspicious patterns and early fraud signals.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27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9EF8-9FCB-7652-F03A-1F466553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3C947-1701-3A02-8DEF-E3B7B3F29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Identify abnormal transaction patterns that may indicate fraud.</a:t>
            </a:r>
          </a:p>
          <a:p>
            <a:endParaRPr lang="en-IN" dirty="0"/>
          </a:p>
          <a:p>
            <a:r>
              <a:rPr lang="en-IN" dirty="0"/>
              <a:t>• Use statistical methods to distinguish normal and suspicious activity.</a:t>
            </a:r>
          </a:p>
          <a:p>
            <a:endParaRPr lang="en-IN" dirty="0"/>
          </a:p>
          <a:p>
            <a:r>
              <a:rPr lang="en-IN" dirty="0"/>
              <a:t>• Detect unusual transaction </a:t>
            </a:r>
            <a:r>
              <a:rPr lang="en-IN" dirty="0" err="1"/>
              <a:t>behavior</a:t>
            </a:r>
            <a:r>
              <a:rPr lang="en-IN" dirty="0"/>
              <a:t> using statistical analysis.</a:t>
            </a:r>
          </a:p>
          <a:p>
            <a:endParaRPr lang="en-IN" dirty="0"/>
          </a:p>
          <a:p>
            <a:r>
              <a:rPr lang="en-IN" dirty="0"/>
              <a:t>• Identify important statistical signals for early fraud detection.</a:t>
            </a:r>
          </a:p>
          <a:p>
            <a:endParaRPr lang="en-IN" dirty="0"/>
          </a:p>
          <a:p>
            <a:r>
              <a:rPr lang="en-IN" dirty="0"/>
              <a:t>• Provide useful insights and recommendations for fraud prevention.</a:t>
            </a:r>
          </a:p>
        </p:txBody>
      </p:sp>
    </p:spTree>
    <p:extLst>
      <p:ext uri="{BB962C8B-B14F-4D97-AF65-F5344CB8AC3E}">
        <p14:creationId xmlns:p14="http://schemas.microsoft.com/office/powerpoint/2010/main" val="314052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6B8B-6C0B-0709-09BC-6348B58E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72159-3AB1-530C-632D-95B24B459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UPI transaction data is used for fraud analysis.</a:t>
            </a:r>
          </a:p>
          <a:p>
            <a:endParaRPr lang="en-US" dirty="0"/>
          </a:p>
          <a:p>
            <a:r>
              <a:rPr lang="en-US" dirty="0"/>
              <a:t>• The dataset contains transaction-related information used to study user behavior.</a:t>
            </a:r>
          </a:p>
          <a:p>
            <a:endParaRPr lang="en-US" dirty="0"/>
          </a:p>
          <a:p>
            <a:r>
              <a:rPr lang="en-US" dirty="0"/>
              <a:t>• Key factors include transaction amount, transaction frequency, time of transaction, device changes, and account age.</a:t>
            </a:r>
          </a:p>
          <a:p>
            <a:endParaRPr lang="en-US" dirty="0"/>
          </a:p>
          <a:p>
            <a:r>
              <a:rPr lang="en-US" dirty="0"/>
              <a:t>• The data is analyzed to identify normal and suspicious transaction </a:t>
            </a:r>
            <a:r>
              <a:rPr lang="en-US" dirty="0" err="1"/>
              <a:t>patterns.M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92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2365-ECB1-402F-9385-DF68AFAA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2EF9E-4D47-8021-6C21-222AC7166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1. Data Collection</a:t>
            </a:r>
          </a:p>
          <a:p>
            <a:r>
              <a:rPr lang="en-US" dirty="0"/>
              <a:t>   Collect and inspect UPI transaction data.</a:t>
            </a:r>
          </a:p>
          <a:p>
            <a:endParaRPr lang="en-US" dirty="0"/>
          </a:p>
          <a:p>
            <a:r>
              <a:rPr lang="en-US" dirty="0"/>
              <a:t>2. Data Cleaning</a:t>
            </a:r>
          </a:p>
          <a:p>
            <a:r>
              <a:rPr lang="en-US" dirty="0"/>
              <a:t>   Check missing values and remove duplicate records.</a:t>
            </a:r>
          </a:p>
          <a:p>
            <a:endParaRPr lang="en-US" dirty="0"/>
          </a:p>
          <a:p>
            <a:r>
              <a:rPr lang="en-US" dirty="0"/>
              <a:t>3. Exploratory Data Analysis</a:t>
            </a:r>
          </a:p>
          <a:p>
            <a:r>
              <a:rPr lang="en-US" dirty="0"/>
              <a:t>   Study transaction patterns and distributions.</a:t>
            </a:r>
          </a:p>
          <a:p>
            <a:endParaRPr lang="en-US" dirty="0"/>
          </a:p>
          <a:p>
            <a:r>
              <a:rPr lang="en-US" dirty="0"/>
              <a:t>4. Statistical Analysis</a:t>
            </a:r>
          </a:p>
          <a:p>
            <a:r>
              <a:rPr lang="en-US" dirty="0"/>
              <a:t>   Calculate mean, median, standard deviation, quartiles and percentiles.</a:t>
            </a:r>
          </a:p>
          <a:p>
            <a:endParaRPr lang="en-US" dirty="0"/>
          </a:p>
          <a:p>
            <a:r>
              <a:rPr lang="en-US" dirty="0"/>
              <a:t>5. Outlier Detection</a:t>
            </a:r>
          </a:p>
          <a:p>
            <a:r>
              <a:rPr lang="en-US" dirty="0"/>
              <a:t>   Identify unusual transactions using IQR and Z-score methods.</a:t>
            </a:r>
          </a:p>
          <a:p>
            <a:endParaRPr lang="en-US" dirty="0"/>
          </a:p>
          <a:p>
            <a:r>
              <a:rPr lang="en-US" dirty="0"/>
              <a:t>6. Pattern Analysis</a:t>
            </a:r>
          </a:p>
          <a:p>
            <a:r>
              <a:rPr lang="en-US" dirty="0"/>
              <a:t>   Analyze transaction amount, time, device changes, account age and frequency.</a:t>
            </a:r>
          </a:p>
          <a:p>
            <a:endParaRPr lang="en-US" dirty="0"/>
          </a:p>
          <a:p>
            <a:r>
              <a:rPr lang="en-US" dirty="0"/>
              <a:t>7. Fraud Signal Identification</a:t>
            </a:r>
          </a:p>
          <a:p>
            <a:r>
              <a:rPr lang="en-US" dirty="0"/>
              <a:t>   Identify behaviors that may indicate fraudulent activity.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414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EE07-FC75-A65E-9A39-654FC2D7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BEABD-4DD4-5918-C553-A93C9FC05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• Mean – Average transaction amount</a:t>
            </a:r>
          </a:p>
          <a:p>
            <a:endParaRPr lang="en-IN" dirty="0"/>
          </a:p>
          <a:p>
            <a:r>
              <a:rPr lang="en-IN" dirty="0"/>
              <a:t>• Median – Middle transaction value</a:t>
            </a:r>
          </a:p>
          <a:p>
            <a:endParaRPr lang="en-IN" dirty="0"/>
          </a:p>
          <a:p>
            <a:r>
              <a:rPr lang="en-IN" dirty="0"/>
              <a:t>• Standard Deviation – Measures variation in transaction amounts</a:t>
            </a:r>
          </a:p>
          <a:p>
            <a:endParaRPr lang="en-IN" dirty="0"/>
          </a:p>
          <a:p>
            <a:r>
              <a:rPr lang="en-IN" dirty="0"/>
              <a:t>• Quartiles – Divides transaction data into four parts</a:t>
            </a:r>
          </a:p>
          <a:p>
            <a:endParaRPr lang="en-IN" dirty="0"/>
          </a:p>
          <a:p>
            <a:r>
              <a:rPr lang="en-IN" dirty="0"/>
              <a:t>• Percentiles – Shows the position of transaction values</a:t>
            </a:r>
          </a:p>
          <a:p>
            <a:endParaRPr lang="en-IN" dirty="0"/>
          </a:p>
          <a:p>
            <a:r>
              <a:rPr lang="en-IN" dirty="0"/>
              <a:t>• IQR Method – Helps identify unusual transaction values</a:t>
            </a:r>
          </a:p>
          <a:p>
            <a:endParaRPr lang="en-IN" dirty="0"/>
          </a:p>
          <a:p>
            <a:r>
              <a:rPr lang="en-IN" dirty="0"/>
              <a:t>• Z-Score – Identifies statistically unusual transactions</a:t>
            </a:r>
          </a:p>
        </p:txBody>
      </p:sp>
    </p:spTree>
    <p:extLst>
      <p:ext uri="{BB962C8B-B14F-4D97-AF65-F5344CB8AC3E}">
        <p14:creationId xmlns:p14="http://schemas.microsoft.com/office/powerpoint/2010/main" val="281752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63FD7-63F0-3C68-3878-AC07A268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OUTLIER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C8A1B-CD9F-99B9-144E-F11A01934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Outliers are transaction values that are unusually different from normal transactions.</a:t>
            </a:r>
          </a:p>
          <a:p>
            <a:endParaRPr lang="en-US" dirty="0"/>
          </a:p>
          <a:p>
            <a:r>
              <a:rPr lang="en-US" dirty="0"/>
              <a:t>• Box plots are used to visualize unusual transaction amounts.</a:t>
            </a:r>
          </a:p>
          <a:p>
            <a:endParaRPr lang="en-US" dirty="0"/>
          </a:p>
          <a:p>
            <a:r>
              <a:rPr lang="en-US" dirty="0"/>
              <a:t>• IQR (Interquartile Range) method helps identify extreme values.</a:t>
            </a:r>
          </a:p>
          <a:p>
            <a:endParaRPr lang="en-US" dirty="0"/>
          </a:p>
          <a:p>
            <a:r>
              <a:rPr lang="en-US" dirty="0"/>
              <a:t>• Z-Score method identifies transactions that are far from the average.</a:t>
            </a:r>
          </a:p>
          <a:p>
            <a:endParaRPr lang="en-US" dirty="0"/>
          </a:p>
          <a:p>
            <a:r>
              <a:rPr lang="en-US" dirty="0"/>
              <a:t>• High-value transactions and unusual transaction frequency can be treated as potential fraud signals.</a:t>
            </a:r>
          </a:p>
          <a:p>
            <a:endParaRPr lang="en-US" dirty="0"/>
          </a:p>
          <a:p>
            <a:r>
              <a:rPr lang="en-US" dirty="0"/>
              <a:t>• Outlier analysis helps the fraud detection team focus on suspicious transactions.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362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EA95-7944-4B7A-C52E-B74F470A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C82F8-1D1B-5C43-28C8-8413A58D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• Transaction Amount vs Fraud</a:t>
            </a:r>
          </a:p>
          <a:p>
            <a:r>
              <a:rPr lang="en-US" dirty="0"/>
              <a:t>  Analyze whether higher transaction amounts are linked to fraud.</a:t>
            </a:r>
          </a:p>
          <a:p>
            <a:endParaRPr lang="en-US" dirty="0"/>
          </a:p>
          <a:p>
            <a:r>
              <a:rPr lang="en-US" dirty="0"/>
              <a:t>• Time of Day vs Fraud</a:t>
            </a:r>
          </a:p>
          <a:p>
            <a:r>
              <a:rPr lang="en-US" dirty="0"/>
              <a:t>  Identify suspicious activity during unusual hours.</a:t>
            </a:r>
          </a:p>
          <a:p>
            <a:endParaRPr lang="en-US" dirty="0"/>
          </a:p>
          <a:p>
            <a:r>
              <a:rPr lang="en-US" dirty="0"/>
              <a:t>• Device Changes vs Fraud</a:t>
            </a:r>
          </a:p>
          <a:p>
            <a:r>
              <a:rPr lang="en-US" dirty="0"/>
              <a:t>  Study whether multiple device changes indicate suspicious behavior.</a:t>
            </a:r>
          </a:p>
          <a:p>
            <a:endParaRPr lang="en-US" dirty="0"/>
          </a:p>
          <a:p>
            <a:r>
              <a:rPr lang="en-US" dirty="0"/>
              <a:t>• Account Age vs Fraud</a:t>
            </a:r>
          </a:p>
          <a:p>
            <a:r>
              <a:rPr lang="en-US" dirty="0"/>
              <a:t>  Analyze fraud patterns in newly created accounts.</a:t>
            </a:r>
          </a:p>
          <a:p>
            <a:endParaRPr lang="en-US" dirty="0"/>
          </a:p>
          <a:p>
            <a:r>
              <a:rPr lang="en-US" dirty="0"/>
              <a:t>• Transaction Frequency vs Fraud</a:t>
            </a:r>
          </a:p>
          <a:p>
            <a:r>
              <a:rPr lang="en-US" dirty="0"/>
              <a:t>  Identify unusually frequent transactions that may indicate fraud.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183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FD0C-812E-2BE4-3151-ABDA3E73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7BC9-E907-A8FD-B017-223603214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Hypothesis testing is used to check whether transaction amount is related to fraud.</a:t>
            </a:r>
          </a:p>
          <a:p>
            <a:endParaRPr lang="en-US" dirty="0"/>
          </a:p>
          <a:p>
            <a:r>
              <a:rPr lang="en-US" dirty="0"/>
              <a:t>• Null Hypothesis (H₀)</a:t>
            </a:r>
          </a:p>
          <a:p>
            <a:r>
              <a:rPr lang="en-US" dirty="0"/>
              <a:t>  Transaction amount has no significant relationship with fraud occurrence.</a:t>
            </a:r>
          </a:p>
          <a:p>
            <a:endParaRPr lang="en-US" dirty="0"/>
          </a:p>
          <a:p>
            <a:r>
              <a:rPr lang="en-US" dirty="0"/>
              <a:t>• Alternative Hypothesis (H₁)</a:t>
            </a:r>
          </a:p>
          <a:p>
            <a:r>
              <a:rPr lang="en-US" dirty="0"/>
              <a:t>  Transaction amount has a significant relationship with fraud occurrence.</a:t>
            </a:r>
          </a:p>
          <a:p>
            <a:endParaRPr lang="en-US" dirty="0"/>
          </a:p>
          <a:p>
            <a:r>
              <a:rPr lang="en-US" dirty="0"/>
              <a:t>• Statistical tests such as T-Test, ANOVA or Chi-Square can be used.</a:t>
            </a:r>
          </a:p>
          <a:p>
            <a:endParaRPr lang="en-US" dirty="0"/>
          </a:p>
          <a:p>
            <a:r>
              <a:rPr lang="en-US" dirty="0"/>
              <a:t>• The test result helps determine whether the observed relationship is statistically significant.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60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853D-12EF-CEB9-D280-FC795D67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FRAUD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B394B-E25F-F3D6-C93A-469C9FE3E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Sudden high-value transactions</a:t>
            </a:r>
          </a:p>
          <a:p>
            <a:endParaRPr lang="en-US" dirty="0"/>
          </a:p>
          <a:p>
            <a:r>
              <a:rPr lang="en-US" dirty="0"/>
              <a:t>• Rapid bursts of transactions within a short period</a:t>
            </a:r>
          </a:p>
          <a:p>
            <a:endParaRPr lang="en-US" dirty="0"/>
          </a:p>
          <a:p>
            <a:r>
              <a:rPr lang="en-US" dirty="0"/>
              <a:t>• Multiple device changes</a:t>
            </a:r>
          </a:p>
          <a:p>
            <a:endParaRPr lang="en-US" dirty="0"/>
          </a:p>
          <a:p>
            <a:r>
              <a:rPr lang="en-US" dirty="0"/>
              <a:t>• Unusual late-night transaction activity</a:t>
            </a:r>
          </a:p>
          <a:p>
            <a:endParaRPr lang="en-US" dirty="0"/>
          </a:p>
          <a:p>
            <a:r>
              <a:rPr lang="en-US" dirty="0"/>
              <a:t>• Newly created accounts making large payments</a:t>
            </a:r>
          </a:p>
          <a:p>
            <a:endParaRPr lang="en-US" dirty="0"/>
          </a:p>
          <a:p>
            <a:r>
              <a:rPr lang="en-US" dirty="0"/>
              <a:t>• These behaviors can act as early warning signals for possible fraud.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05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B27B-75B5-526C-64CB-ABFCC84F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1FC8-ADFD-5113-C087-AE9E89016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Statistical analysis helps identify important fraud indicators.</a:t>
            </a:r>
          </a:p>
          <a:p>
            <a:endParaRPr lang="en-US" dirty="0"/>
          </a:p>
          <a:p>
            <a:r>
              <a:rPr lang="en-US" dirty="0"/>
              <a:t>• High-value and unusually frequent transactions require closer monitoring.</a:t>
            </a:r>
          </a:p>
          <a:p>
            <a:endParaRPr lang="en-US" dirty="0"/>
          </a:p>
          <a:p>
            <a:r>
              <a:rPr lang="en-US" dirty="0"/>
              <a:t>• Multiple device changes can be a useful warning signal.</a:t>
            </a:r>
          </a:p>
          <a:p>
            <a:endParaRPr lang="en-US" dirty="0"/>
          </a:p>
          <a:p>
            <a:r>
              <a:rPr lang="en-US" dirty="0"/>
              <a:t>• New accounts with abnormal payment activity may require additional verification.</a:t>
            </a:r>
          </a:p>
          <a:p>
            <a:endParaRPr lang="en-US" dirty="0"/>
          </a:p>
          <a:p>
            <a:r>
              <a:rPr lang="en-US" dirty="0"/>
              <a:t>• Fraud teams can use these signals to prioritize suspicious transactions.</a:t>
            </a:r>
          </a:p>
          <a:p>
            <a:endParaRPr lang="en-US" dirty="0"/>
          </a:p>
          <a:p>
            <a:r>
              <a:rPr lang="en-US" dirty="0"/>
              <a:t>• Statistical insights can support faster and more effective fraud prevention.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771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6795-D14A-95D0-6869-2F060F22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2C6C8-46F8-2798-7BCA-7604EE798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Charts and graphs help understand transaction patterns clearly.</a:t>
            </a:r>
          </a:p>
          <a:p>
            <a:endParaRPr lang="en-US" dirty="0"/>
          </a:p>
          <a:p>
            <a:r>
              <a:rPr lang="en-US" dirty="0"/>
              <a:t>• Histograms show the distribution of transaction amounts.</a:t>
            </a:r>
          </a:p>
          <a:p>
            <a:endParaRPr lang="en-US" dirty="0"/>
          </a:p>
          <a:p>
            <a:r>
              <a:rPr lang="en-US" dirty="0"/>
              <a:t>• Box plots help identify unusual transaction values.</a:t>
            </a:r>
          </a:p>
          <a:p>
            <a:endParaRPr lang="en-US" dirty="0"/>
          </a:p>
          <a:p>
            <a:r>
              <a:rPr lang="en-US" dirty="0"/>
              <a:t>• Bar charts compare fraud patterns across different categories.</a:t>
            </a:r>
          </a:p>
          <a:p>
            <a:endParaRPr lang="en-US" dirty="0"/>
          </a:p>
          <a:p>
            <a:r>
              <a:rPr lang="en-US" dirty="0"/>
              <a:t>• Heatmaps show relationships between important transaction variables.</a:t>
            </a:r>
          </a:p>
          <a:p>
            <a:endParaRPr lang="en-US" dirty="0"/>
          </a:p>
          <a:p>
            <a:r>
              <a:rPr lang="en-US" dirty="0"/>
              <a:t>• Visual analysis makes suspicious patterns easier to identify.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480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1E18-70BA-1A11-AB91-6CB1E5C8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F287-33CB-6814-15DD-02BAF262E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Monitor sudden high-value transactions.</a:t>
            </a:r>
          </a:p>
          <a:p>
            <a:endParaRPr lang="en-US" dirty="0"/>
          </a:p>
          <a:p>
            <a:r>
              <a:rPr lang="en-US" dirty="0"/>
              <a:t>• Track unusually frequent transactions within a short period.</a:t>
            </a:r>
          </a:p>
          <a:p>
            <a:endParaRPr lang="en-US" dirty="0"/>
          </a:p>
          <a:p>
            <a:r>
              <a:rPr lang="en-US" dirty="0"/>
              <a:t>• Monitor multiple device changes.</a:t>
            </a:r>
          </a:p>
          <a:p>
            <a:endParaRPr lang="en-US" dirty="0"/>
          </a:p>
          <a:p>
            <a:r>
              <a:rPr lang="en-US" dirty="0"/>
              <a:t>• Apply additional verification for suspicious new-account activity.</a:t>
            </a:r>
          </a:p>
          <a:p>
            <a:endParaRPr lang="en-US" dirty="0"/>
          </a:p>
          <a:p>
            <a:r>
              <a:rPr lang="en-US" dirty="0"/>
              <a:t>• Use statistical signals to prioritize high-risk transactions.</a:t>
            </a:r>
          </a:p>
          <a:p>
            <a:endParaRPr lang="en-US" dirty="0"/>
          </a:p>
          <a:p>
            <a:r>
              <a:rPr lang="en-US" dirty="0"/>
              <a:t>• Continuously update fraud detection rules using new transaction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711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3F18-E76D-B9F2-824E-864EAC23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C31DF-8C73-8E16-2382-F59BA17F0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Develop real-time fraud detection systems.</a:t>
            </a:r>
          </a:p>
          <a:p>
            <a:endParaRPr lang="en-US" dirty="0"/>
          </a:p>
          <a:p>
            <a:r>
              <a:rPr lang="en-US" dirty="0"/>
              <a:t>• Use machine learning models for better fraud prediction.</a:t>
            </a:r>
          </a:p>
          <a:p>
            <a:endParaRPr lang="en-US" dirty="0"/>
          </a:p>
          <a:p>
            <a:r>
              <a:rPr lang="en-US" dirty="0"/>
              <a:t>• Analyze more transaction and user behavior features.</a:t>
            </a:r>
          </a:p>
          <a:p>
            <a:endParaRPr lang="en-US" dirty="0"/>
          </a:p>
          <a:p>
            <a:r>
              <a:rPr lang="en-US" dirty="0"/>
              <a:t>• Improve detection of new and evolving fraud patterns.</a:t>
            </a:r>
          </a:p>
          <a:p>
            <a:endParaRPr lang="en-US" dirty="0"/>
          </a:p>
          <a:p>
            <a:r>
              <a:rPr lang="en-US" dirty="0"/>
              <a:t>• Integrate automated alerts for high-risk transactions.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777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BE84-A38A-363D-2EB8-8831197A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E8F05-ECD3-2107-ECD5-50B05AF53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Statistical analysis helps identify unusual UPI transaction patterns.</a:t>
            </a:r>
          </a:p>
          <a:p>
            <a:endParaRPr lang="en-US" dirty="0"/>
          </a:p>
          <a:p>
            <a:r>
              <a:rPr lang="en-US" dirty="0"/>
              <a:t>• Transaction amount, frequency, time, device changes and account age can provide useful fraud signals.</a:t>
            </a:r>
          </a:p>
          <a:p>
            <a:endParaRPr lang="en-US" dirty="0"/>
          </a:p>
          <a:p>
            <a:r>
              <a:rPr lang="en-US" dirty="0"/>
              <a:t>• Outlier detection helps identify suspicious transaction behavior.</a:t>
            </a:r>
          </a:p>
          <a:p>
            <a:endParaRPr lang="en-US" dirty="0"/>
          </a:p>
          <a:p>
            <a:r>
              <a:rPr lang="en-US" dirty="0"/>
              <a:t>• These statistical insights can support early fraud detection and prevention.</a:t>
            </a:r>
          </a:p>
          <a:p>
            <a:endParaRPr lang="en-US" dirty="0"/>
          </a:p>
          <a:p>
            <a:r>
              <a:rPr lang="en-US" dirty="0"/>
              <a:t>• The analysis provides a foundation for building more advanced fraud detection systems.</a:t>
            </a:r>
          </a:p>
          <a:p>
            <a:r>
              <a:rPr lang="en-IN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3768596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00000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009"/>
      </a:dk1>
      <a:lt1>
        <a:sysClr val="window" lastClr="00000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141</TotalTime>
  <Words>922</Words>
  <Application>Microsoft Office PowerPoint</Application>
  <PresentationFormat>Widescreen</PresentationFormat>
  <Paragraphs>177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Neue Haas Grotesk Text Pro</vt:lpstr>
      <vt:lpstr>Film Burn</vt:lpstr>
      <vt:lpstr>UPI FRAUD STATISTICAL ANALYSIS</vt:lpstr>
      <vt:lpstr>PROBLEM STATEMENT</vt:lpstr>
      <vt:lpstr>OBJECTIVE</vt:lpstr>
      <vt:lpstr>DATASET</vt:lpstr>
      <vt:lpstr>METHODOLOGY</vt:lpstr>
      <vt:lpstr>STATISTICAL ANALYSIS</vt:lpstr>
      <vt:lpstr>OUTLIER DETECTION</vt:lpstr>
      <vt:lpstr>PATTERN ANALYSIS</vt:lpstr>
      <vt:lpstr>HYPOTHESIS TESTING</vt:lpstr>
      <vt:lpstr>FRAUD SIGNALS</vt:lpstr>
      <vt:lpstr>BUSINESS INSIGHTS</vt:lpstr>
      <vt:lpstr>VISUAL ANALYSIS</vt:lpstr>
      <vt:lpstr>RECOMMENDATIONS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nethra h</dc:creator>
  <cp:lastModifiedBy>nethra h</cp:lastModifiedBy>
  <cp:revision>1</cp:revision>
  <dcterms:created xsi:type="dcterms:W3CDTF">2026-09-07T16:06:26Z</dcterms:created>
  <dcterms:modified xsi:type="dcterms:W3CDTF">2026-09-07T18:28:18Z</dcterms:modified>
</cp:coreProperties>
</file>